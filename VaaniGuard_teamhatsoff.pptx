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4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4432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acm-three-khaki.vercel.app/" TargetMode="External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Relationship Id="rId9" Type="http://schemas.openxmlformats.org/officeDocument/2006/relationships/hyperlink" Target="https://github.com/Arthrevs/Ac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ecurity shield. Cyber security. Protection shield with Check mark icon ...">
            <a:extLst>
              <a:ext uri="{FF2B5EF4-FFF2-40B4-BE49-F238E27FC236}">
                <a16:creationId xmlns:a16="http://schemas.microsoft.com/office/drawing/2014/main" id="{1B14114E-C3B7-A103-5101-DD47A4008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2" y="-1"/>
            <a:ext cx="12120438" cy="698124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 STATEMENT 14  ·  CYBERSECURITY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731520" y="23317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</a:t>
            </a:r>
            <a:endParaRPr lang="en-US" sz="6600" dirty="0">
              <a:solidFill>
                <a:schemeClr val="bg2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77240" y="3611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Vernacular Threat Defense</a:t>
            </a:r>
            <a:endParaRPr lang="en-US" sz="2200" dirty="0">
              <a:solidFill>
                <a:schemeClr val="bg2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777240" y="4160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Multi-Agent Consensus Pipeline for Detecting Hinglish Social Engineering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795528" y="4892040"/>
            <a:ext cx="1280160" cy="0"/>
          </a:xfrm>
          <a:prstGeom prst="line">
            <a:avLst/>
          </a:prstGeom>
          <a:noFill/>
          <a:ln w="31750">
            <a:solidFill>
              <a:srgbClr val="128F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5029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AI-Powered Vernacular SMS Phishing Classifier</a:t>
            </a:r>
            <a:endParaRPr lang="en-US" sz="1200" dirty="0">
              <a:solidFill>
                <a:schemeClr val="bg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B78B2-8892-75DD-327D-85CDEE8B3208}"/>
              </a:ext>
            </a:extLst>
          </p:cNvPr>
          <p:cNvSpPr txBox="1"/>
          <p:nvPr/>
        </p:nvSpPr>
        <p:spPr>
          <a:xfrm>
            <a:off x="6025764" y="6727811"/>
            <a:ext cx="609467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900" dirty="0" err="1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</a:t>
            </a:r>
            <a:r>
              <a:rPr lang="en-US" sz="900" dirty="0">
                <a:solidFill>
                  <a:schemeClr val="bg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01 / 10</a:t>
            </a:r>
            <a:endParaRPr lang="en-US" sz="9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6675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Blind Spot in Indian Cybersecurity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66928" cy="566928"/>
          </a:xfrm>
          <a:prstGeom prst="ellipse">
            <a:avLst/>
          </a:prstGeom>
          <a:solidFill>
            <a:srgbClr val="D8442C"/>
          </a:solidFill>
          <a:ln/>
        </p:spPr>
      </p:sp>
      <p:pic>
        <p:nvPicPr>
          <p:cNvPr id="5" name="Image 0" descr="/home/claude/vaaniguard/icons/mes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2016252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84708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Linguistic Loophole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417320" y="2167128"/>
            <a:ext cx="5989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spam filters (Apple, Google, Truecaller) rely on standard English threat dictionaries.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172968"/>
            <a:ext cx="566928" cy="566928"/>
          </a:xfrm>
          <a:prstGeom prst="ellipse">
            <a:avLst/>
          </a:prstGeom>
          <a:solidFill>
            <a:srgbClr val="D8442C"/>
          </a:solidFill>
          <a:ln/>
        </p:spPr>
      </p:sp>
      <p:pic>
        <p:nvPicPr>
          <p:cNvPr id="9" name="Image 1" descr="/home/claude/vaaniguard/icons/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3314700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14553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Scammer Strategy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17320" y="3465576"/>
            <a:ext cx="5989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Fraudsters bypass these systems using transliterated vernacular (Hinglish, Tanglish) and intentional phonetic misspellings — e.g. “accnt blck ho jyga.”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471416"/>
            <a:ext cx="566928" cy="566928"/>
          </a:xfrm>
          <a:prstGeom prst="ellipse">
            <a:avLst/>
          </a:prstGeom>
          <a:solidFill>
            <a:srgbClr val="D8442C"/>
          </a:solidFill>
          <a:ln/>
        </p:spPr>
      </p:sp>
      <p:pic>
        <p:nvPicPr>
          <p:cNvPr id="13" name="Image 2" descr="/home/claude/vaaniguard/icons/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" y="4613148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444398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Contextual Blindness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417320" y="4764024"/>
            <a:ext cx="5989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Models struggle with “polite” social engineering — like fake OLX proxy-buyer scams — lacking cultural transaction context.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7909560" y="1051560"/>
            <a:ext cx="3566160" cy="4663440"/>
          </a:xfrm>
          <a:prstGeom prst="roundRect">
            <a:avLst>
              <a:gd name="adj" fmla="val 5641"/>
            </a:avLst>
          </a:prstGeom>
          <a:solidFill>
            <a:srgbClr val="1B1E2E"/>
          </a:solidFill>
          <a:ln/>
        </p:spPr>
      </p:sp>
      <p:sp>
        <p:nvSpPr>
          <p:cNvPr id="17" name="Shape 12"/>
          <p:cNvSpPr/>
          <p:nvPr/>
        </p:nvSpPr>
        <p:spPr>
          <a:xfrm>
            <a:off x="8019288" y="1344168"/>
            <a:ext cx="3346704" cy="4114800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/>
        </p:spPr>
      </p:sp>
      <p:sp>
        <p:nvSpPr>
          <p:cNvPr id="18" name="Text 13"/>
          <p:cNvSpPr/>
          <p:nvPr/>
        </p:nvSpPr>
        <p:spPr>
          <a:xfrm>
            <a:off x="8183880" y="14356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183880" y="1828800"/>
            <a:ext cx="3017520" cy="1554480"/>
          </a:xfrm>
          <a:prstGeom prst="roundRect">
            <a:avLst>
              <a:gd name="adj" fmla="val 8235"/>
            </a:avLst>
          </a:prstGeom>
          <a:solidFill>
            <a:srgbClr val="EEF0F7"/>
          </a:solidFill>
          <a:ln/>
        </p:spPr>
      </p:sp>
      <p:sp>
        <p:nvSpPr>
          <p:cNvPr id="20" name="Text 15"/>
          <p:cNvSpPr/>
          <p:nvPr/>
        </p:nvSpPr>
        <p:spPr>
          <a:xfrm>
            <a:off x="8348472" y="1965960"/>
            <a:ext cx="268833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URGENT: apka SBI accnt 24hrs me blck ho jyga. Turant verify kre: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bit.ly/sbi-verify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8183880" y="3657600"/>
            <a:ext cx="457200" cy="457200"/>
          </a:xfrm>
          <a:prstGeom prst="ellipse">
            <a:avLst/>
          </a:prstGeom>
          <a:solidFill>
            <a:srgbClr val="D8442C"/>
          </a:solidFill>
          <a:ln/>
        </p:spPr>
      </p:sp>
      <p:pic>
        <p:nvPicPr>
          <p:cNvPr id="22" name="Image 3" descr="/home/claude/vaaniguard/icons/x-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8180" y="3771900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37216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844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FILTERS: NOT FLAGGED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8183880" y="41605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English-dictionary spam filters see harmless typos — no keyword match, no alert.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40080" y="6263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result: naive filters see harmless typos; victims see urgent threats.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Introducing VaaniGuard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a Simple Wrapper.  </a:t>
            </a:r>
            <a:r>
              <a:rPr lang="en-US" sz="13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is not a basic keyword filter — it is a deterministic, multi-layered AI security pipeline designed specifically for Bharat’s linguistic landscape.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Objective.  </a:t>
            </a:r>
            <a:r>
              <a:rPr lang="en-US" sz="13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 psychological manipulation and financial exploitation vectors hidden in regional dialects, while drastically reducing false positives in normal user communications.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4983480"/>
            <a:ext cx="1280160" cy="0"/>
          </a:xfrm>
          <a:prstGeom prst="line">
            <a:avLst/>
          </a:prstGeom>
          <a:noFill/>
          <a:ln w="31750">
            <a:solidFill>
              <a:srgbClr val="128F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1206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Triad of Defense combines Phonetic Normalization, Multi-Agent AI Consensus, and Multimodal Vision into one triage engine.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452665" y="0"/>
            <a:ext cx="4739335" cy="6858000"/>
          </a:xfrm>
          <a:prstGeom prst="rect">
            <a:avLst/>
          </a:prstGeom>
          <a:solidFill>
            <a:srgbClr val="141B3C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0" y="685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TRIAD OF DEFENSE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0" y="1417320"/>
            <a:ext cx="566928" cy="566928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11" name="Image 0" descr="/home/claude/vaaniguard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012" y="1559052"/>
            <a:ext cx="283464" cy="2834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55280" y="20756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Phonetic Normalization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955280" y="2377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Maps fuzzy misspellings to canonical roots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55280" y="2953512"/>
            <a:ext cx="566928" cy="566928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15" name="Image 1" descr="/home/claude/vaaniguard/icons/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012" y="3095244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95528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Multi-Agent AI Consensus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955280" y="39136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agents cross-examine every message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55280" y="4489704"/>
            <a:ext cx="566928" cy="566928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19" name="Image 2" descr="/home/claude/vaaniguard/icons/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012" y="4631436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955280" y="51480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Multimodal Vision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7955280" y="5449824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0000"/>
              </a:lnSpc>
            </a:pPr>
            <a:r>
              <a:rPr lang="en-IN" sz="1100" b="1" dirty="0">
                <a:solidFill>
                  <a:schemeClr val="bg1">
                    <a:lumMod val="75000"/>
                  </a:schemeClr>
                </a:solidFill>
                <a:latin typeface="Inter"/>
              </a:rPr>
              <a:t>Multimodal Vision &amp; OCR</a:t>
            </a:r>
            <a:r>
              <a:rPr lang="en-IN" sz="1100" dirty="0">
                <a:solidFill>
                  <a:schemeClr val="bg1">
                    <a:lumMod val="75000"/>
                  </a:schemeClr>
                </a:solidFill>
                <a:latin typeface="Inter"/>
              </a:rPr>
              <a:t> Native screenshot OCR via Gemini to instantly extract messy Hinglish text and identify visual impersonation cues that text-only models miss.</a:t>
            </a:r>
            <a:endParaRPr lang="en-US" sz="1100" dirty="0">
              <a:solidFill>
                <a:schemeClr val="bg1">
                  <a:lumMod val="75000"/>
                </a:schemeClr>
              </a:solidFill>
              <a:latin typeface="Inter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· LAYER 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Phonetic Equalizer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Pre-Processing — stripping the camouflage before the AI ever sees 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2468880" cy="475488"/>
          </a:xfrm>
          <a:prstGeom prst="roundRect">
            <a:avLst>
              <a:gd name="adj" fmla="val 15385"/>
            </a:avLst>
          </a:prstGeom>
          <a:solidFill>
            <a:srgbClr val="FBEAE6"/>
          </a:solidFill>
          <a:ln w="12700">
            <a:solidFill>
              <a:srgbClr val="EAC3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84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“blck”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761488"/>
            <a:ext cx="2468880" cy="475488"/>
          </a:xfrm>
          <a:prstGeom prst="roundRect">
            <a:avLst>
              <a:gd name="adj" fmla="val 15385"/>
            </a:avLst>
          </a:prstGeom>
          <a:solidFill>
            <a:srgbClr val="FBEAE6"/>
          </a:solidFill>
          <a:ln w="12700">
            <a:solidFill>
              <a:srgbClr val="EAC3B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61488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84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“balock”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19856"/>
            <a:ext cx="2468880" cy="475488"/>
          </a:xfrm>
          <a:prstGeom prst="roundRect">
            <a:avLst>
              <a:gd name="adj" fmla="val 15385"/>
            </a:avLst>
          </a:prstGeom>
          <a:solidFill>
            <a:srgbClr val="FBEAE6"/>
          </a:solidFill>
          <a:ln w="12700">
            <a:solidFill>
              <a:srgbClr val="EAC3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19856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84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“blok”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11880" y="2999232"/>
            <a:ext cx="1371600" cy="0"/>
          </a:xfrm>
          <a:prstGeom prst="line">
            <a:avLst/>
          </a:prstGeom>
          <a:noFill/>
          <a:ln w="19050">
            <a:solidFill>
              <a:srgbClr val="5B6079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74920" y="2770632"/>
            <a:ext cx="457200" cy="457200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3" name="Image 0" descr="/home/claude/vaaniguard/icons/arrow-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884932"/>
            <a:ext cx="228600" cy="2286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806440" y="2423160"/>
            <a:ext cx="310896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22225">
            <a:solidFill>
              <a:srgbClr val="128F6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06440" y="25420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8F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806440" y="3072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canonical root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43434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Normalization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0080" y="4681728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IN" sz="1250" dirty="0">
                <a:solidFill>
                  <a:schemeClr val="bg1">
                    <a:lumMod val="50000"/>
                  </a:schemeClr>
                </a:solidFill>
                <a:latin typeface="Inter"/>
              </a:rPr>
              <a:t>Before the AI </a:t>
            </a:r>
            <a:r>
              <a:rPr lang="en-IN" sz="1250" dirty="0" err="1">
                <a:solidFill>
                  <a:schemeClr val="bg1">
                    <a:lumMod val="50000"/>
                  </a:schemeClr>
                </a:solidFill>
                <a:latin typeface="Inter"/>
              </a:rPr>
              <a:t>analyzes</a:t>
            </a:r>
            <a:r>
              <a:rPr lang="en-IN" sz="1250" dirty="0">
                <a:solidFill>
                  <a:schemeClr val="bg1">
                    <a:lumMod val="50000"/>
                  </a:schemeClr>
                </a:solidFill>
                <a:latin typeface="Inter"/>
              </a:rPr>
              <a:t> the message, our </a:t>
            </a:r>
            <a:r>
              <a:rPr lang="en-IN" sz="1250" b="1" dirty="0">
                <a:solidFill>
                  <a:schemeClr val="bg1">
                    <a:lumMod val="50000"/>
                  </a:schemeClr>
                </a:solidFill>
                <a:latin typeface="Inter"/>
              </a:rPr>
              <a:t>Node.js / Express backend</a:t>
            </a:r>
            <a:r>
              <a:rPr lang="en-IN" sz="1250" dirty="0">
                <a:solidFill>
                  <a:schemeClr val="bg1">
                    <a:lumMod val="50000"/>
                  </a:schemeClr>
                </a:solidFill>
                <a:latin typeface="Inter"/>
              </a:rPr>
              <a:t> intercepts the raw payload and maps phonetic misspellings to their canonical roots.</a:t>
            </a:r>
            <a:endParaRPr lang="en-US" sz="1250" dirty="0">
              <a:solidFill>
                <a:schemeClr val="bg1">
                  <a:lumMod val="50000"/>
                </a:schemeClr>
              </a:solidFill>
              <a:latin typeface="Inter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080760" y="43434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080760" y="4681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sanitize the adversarial noise, giving the downstream AI a clean structural payload — we don’t train the AI on bad spelling, we fix the spelling first.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· LAYER 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3-Agent Consensus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naive AI flags the word “UPI” and panics, ruining normal marketplace chats. We treat the backend like a courtroom.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EEF0F7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377440"/>
            <a:ext cx="621792" cy="62179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7" name="Image 0" descr="/home/claude/vaaniguard/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25328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15468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28F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60120" y="3429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Extractor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840480"/>
            <a:ext cx="2606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strictly for exploit vectors — unverified links, OTP requests, coercive deadlines.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845052" y="347929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home/claude/vaaniguard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636" y="3579876"/>
            <a:ext cx="201168" cy="201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206240" y="205740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EEF0F7"/>
          </a:solidFill>
          <a:ln/>
        </p:spPr>
      </p:sp>
      <p:sp>
        <p:nvSpPr>
          <p:cNvPr id="14" name="Shape 10"/>
          <p:cNvSpPr/>
          <p:nvPr/>
        </p:nvSpPr>
        <p:spPr>
          <a:xfrm>
            <a:off x="4526280" y="2377440"/>
            <a:ext cx="621792" cy="62179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5" name="Image 2" descr="/home/claude/vaaniguard/icons/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532888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26280" y="315468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28F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2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526280" y="3429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Context Arbiter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526280" y="3840480"/>
            <a:ext cx="2606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Evaluates the social reality: a legitimate P2P OLX negotiation, or a stranger demanding action?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7411212" y="347929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/home/claude/vaaniguard/icons/arrow-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796" y="3579876"/>
            <a:ext cx="201168" cy="20116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772400" y="205740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EEF0F7"/>
          </a:solidFill>
          <a:ln/>
        </p:spPr>
      </p:sp>
      <p:sp>
        <p:nvSpPr>
          <p:cNvPr id="22" name="Shape 16"/>
          <p:cNvSpPr/>
          <p:nvPr/>
        </p:nvSpPr>
        <p:spPr>
          <a:xfrm>
            <a:off x="8092440" y="2377440"/>
            <a:ext cx="621792" cy="62179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23" name="Image 4" descr="/home/claude/vaaniguard/icons/aw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2532888"/>
            <a:ext cx="310896" cy="31089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092440" y="315468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128F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3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8092440" y="3429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Chief Judge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8092440" y="3840480"/>
            <a:ext cx="2606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Weighs both findings. If context confirms a safe marketplace, the judge overrules and declares SAFE.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40080" y="557784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41B3C"/>
          </a:solidFill>
          <a:ln/>
        </p:spPr>
      </p:sp>
      <p:sp>
        <p:nvSpPr>
          <p:cNvPr id="28" name="Text 21"/>
          <p:cNvSpPr/>
          <p:nvPr/>
        </p:nvSpPr>
        <p:spPr>
          <a:xfrm>
            <a:off x="868680" y="55778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  </a:t>
            </a:r>
            <a:r>
              <a:rPr lang="en-US" sz="120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1 flags “UPI”  →  Agent 2 confirms OLX marketplace context  →  Agent 3 verdict: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9281160" y="5751576"/>
            <a:ext cx="1051560" cy="429768"/>
          </a:xfrm>
          <a:prstGeom prst="roundRect">
            <a:avLst>
              <a:gd name="adj" fmla="val 48936"/>
            </a:avLst>
          </a:prstGeom>
          <a:solidFill>
            <a:srgbClr val="128F6E"/>
          </a:solidFill>
          <a:ln/>
        </p:spPr>
      </p:sp>
      <p:sp>
        <p:nvSpPr>
          <p:cNvPr id="30" name="Text 23"/>
          <p:cNvSpPr/>
          <p:nvPr/>
        </p:nvSpPr>
        <p:spPr>
          <a:xfrm>
            <a:off x="9281160" y="5751576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Multimodal Vision Ingestion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Everyday users don’t copy-paste text — they take screenshots of WhatsApp or SMS.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66928" cy="566928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6" name="Image 0" descr="/home/claude/vaani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24734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30428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Image Processing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417320" y="2642616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IN" sz="1100" b="1" dirty="0">
                <a:solidFill>
                  <a:schemeClr val="bg1">
                    <a:lumMod val="50000"/>
                  </a:schemeClr>
                </a:solidFill>
              </a:rPr>
              <a:t>Native Image Processing (The OCR Upgrade):</a:t>
            </a:r>
            <a:r>
              <a:rPr lang="en-IN" sz="1100" dirty="0">
                <a:solidFill>
                  <a:schemeClr val="bg1">
                    <a:lumMod val="50000"/>
                  </a:schemeClr>
                </a:solidFill>
              </a:rPr>
              <a:t> Everyday users don't copy-paste text; they take screenshots of WhatsApp or SMS. </a:t>
            </a:r>
            <a:r>
              <a:rPr lang="en-IN" sz="1100" dirty="0" err="1">
                <a:solidFill>
                  <a:schemeClr val="bg1">
                    <a:lumMod val="50000"/>
                  </a:schemeClr>
                </a:solidFill>
              </a:rPr>
              <a:t>VaaniGuard</a:t>
            </a:r>
            <a:r>
              <a:rPr lang="en-IN" sz="1100" dirty="0">
                <a:solidFill>
                  <a:schemeClr val="bg1">
                    <a:lumMod val="50000"/>
                  </a:schemeClr>
                </a:solidFill>
              </a:rPr>
              <a:t> uses </a:t>
            </a:r>
            <a:r>
              <a:rPr lang="en-IN" sz="1100">
                <a:solidFill>
                  <a:schemeClr val="bg1">
                    <a:lumMod val="50000"/>
                  </a:schemeClr>
                </a:solidFill>
              </a:rPr>
              <a:t>Gemini Multimodal </a:t>
            </a:r>
            <a:r>
              <a:rPr lang="en-IN" sz="1100" dirty="0">
                <a:solidFill>
                  <a:schemeClr val="bg1">
                    <a:lumMod val="50000"/>
                  </a:schemeClr>
                </a:solidFill>
              </a:rPr>
              <a:t>Gateway to perform native OCR, instantly extracting transliterated Hinglish text and conversation layouts directly from uploaded images. 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566928" cy="566928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0" name="Image 1" descr="/home/claude/vaaniguard/icons/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407365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390448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Threat Intel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417320" y="4242816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Beyond Hinglish text, the vision layer identifies impersonation cues: a fake SBI logo with a drawn-on verification tick, or artificial red urgency banners.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955280" y="914400"/>
            <a:ext cx="3520440" cy="5394960"/>
          </a:xfrm>
          <a:prstGeom prst="roundRect">
            <a:avLst>
              <a:gd name="adj" fmla="val 5714"/>
            </a:avLst>
          </a:prstGeom>
          <a:solidFill>
            <a:srgbClr val="1B1E2E"/>
          </a:solidFill>
          <a:ln/>
        </p:spPr>
      </p:sp>
      <p:sp>
        <p:nvSpPr>
          <p:cNvPr id="14" name="Shape 10"/>
          <p:cNvSpPr/>
          <p:nvPr/>
        </p:nvSpPr>
        <p:spPr>
          <a:xfrm>
            <a:off x="8065008" y="1188720"/>
            <a:ext cx="3300984" cy="4892040"/>
          </a:xfrm>
          <a:prstGeom prst="roundRect">
            <a:avLst>
              <a:gd name="adj" fmla="val 2770"/>
            </a:avLst>
          </a:prstGeom>
          <a:solidFill>
            <a:srgbClr val="F0F1F4"/>
          </a:solidFill>
          <a:ln/>
        </p:spPr>
      </p:sp>
      <p:sp>
        <p:nvSpPr>
          <p:cNvPr id="15" name="Shape 11"/>
          <p:cNvSpPr/>
          <p:nvPr/>
        </p:nvSpPr>
        <p:spPr>
          <a:xfrm>
            <a:off x="8247888" y="1417320"/>
            <a:ext cx="2935224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6" name="Shape 12"/>
          <p:cNvSpPr/>
          <p:nvPr/>
        </p:nvSpPr>
        <p:spPr>
          <a:xfrm>
            <a:off x="8394192" y="1554480"/>
            <a:ext cx="457200" cy="457200"/>
          </a:xfrm>
          <a:prstGeom prst="ellipse">
            <a:avLst/>
          </a:prstGeom>
          <a:solidFill>
            <a:srgbClr val="EEF0F7"/>
          </a:solidFill>
          <a:ln/>
        </p:spPr>
      </p:sp>
      <p:sp>
        <p:nvSpPr>
          <p:cNvPr id="17" name="Text 13"/>
          <p:cNvSpPr/>
          <p:nvPr/>
        </p:nvSpPr>
        <p:spPr>
          <a:xfrm>
            <a:off x="8394192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1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SBI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896112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SBI Alerts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961120" y="1783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8442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verified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8247888" y="2331720"/>
            <a:ext cx="2935224" cy="457200"/>
          </a:xfrm>
          <a:prstGeom prst="roundRect">
            <a:avLst>
              <a:gd name="adj" fmla="val 16000"/>
            </a:avLst>
          </a:prstGeom>
          <a:solidFill>
            <a:srgbClr val="D8442C"/>
          </a:solidFill>
          <a:ln/>
        </p:spPr>
      </p:sp>
      <p:sp>
        <p:nvSpPr>
          <p:cNvPr id="21" name="Text 17"/>
          <p:cNvSpPr/>
          <p:nvPr/>
        </p:nvSpPr>
        <p:spPr>
          <a:xfrm>
            <a:off x="8247888" y="2331720"/>
            <a:ext cx="29352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  URGENT ACTION REQUIRED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247888" y="2926080"/>
            <a:ext cx="293522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3" name="Text 19"/>
          <p:cNvSpPr/>
          <p:nvPr/>
        </p:nvSpPr>
        <p:spPr>
          <a:xfrm>
            <a:off x="8412480" y="3063240"/>
            <a:ext cx="2606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B1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aapka account 2 ghante me band ho jayega. Neeche diye gaye link par turant verify karein.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247888" y="4526280"/>
            <a:ext cx="420624" cy="420624"/>
          </a:xfrm>
          <a:prstGeom prst="ellipse">
            <a:avLst/>
          </a:prstGeom>
          <a:solidFill>
            <a:srgbClr val="D8442C"/>
          </a:solidFill>
          <a:ln/>
        </p:spPr>
      </p:sp>
      <p:pic>
        <p:nvPicPr>
          <p:cNvPr id="25" name="Image 2" descr="/home/claude/vaaniguard/icons/x-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044" y="4631436"/>
            <a:ext cx="210312" cy="21031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778240" y="454456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Fake logo · forged tick · false urgency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detected by vision layer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Glass-Box UI — Radical Explainability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don’t just output a generic “SCAM” warning. Users need to know why.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2057400"/>
            <a:ext cx="9052560" cy="1691640"/>
          </a:xfrm>
          <a:prstGeom prst="roundRect">
            <a:avLst>
              <a:gd name="adj" fmla="val 7568"/>
            </a:avLst>
          </a:prstGeom>
          <a:solidFill>
            <a:srgbClr val="EEF0F7"/>
          </a:solidFill>
          <a:ln/>
        </p:spPr>
      </p:sp>
      <p:sp>
        <p:nvSpPr>
          <p:cNvPr id="6" name="Text 4"/>
          <p:cNvSpPr/>
          <p:nvPr/>
        </p:nvSpPr>
        <p:spPr>
          <a:xfrm>
            <a:off x="2011680" y="2377440"/>
            <a:ext cx="8138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account will be </a:t>
            </a:r>
            <a:r>
              <a:rPr lang="en-US" sz="1700" b="1" dirty="0">
                <a:solidFill>
                  <a:srgbClr val="FFFFFF"/>
                </a:solidFill>
                <a:highlight>
                  <a:srgbClr val="D8442C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permanently blocked</a:t>
            </a:r>
            <a:r>
              <a:rPr lang="en-US" sz="1700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within 2 hours unless you </a:t>
            </a:r>
            <a:r>
              <a:rPr lang="en-US" sz="1700" b="1" dirty="0">
                <a:solidFill>
                  <a:srgbClr val="FFFFFF"/>
                </a:solidFill>
                <a:highlight>
                  <a:srgbClr val="D8442C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verify immediately</a:t>
            </a:r>
            <a:r>
              <a:rPr lang="en-US" sz="1700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324612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coordinates  [21:39]  ·  [56:74]   —   psychological triggers: utility threat, false urgency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160520"/>
            <a:ext cx="512064" cy="512064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9" name="Image 0" descr="/home/claude/vaaniguard/icons/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28853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4169664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Trust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4782312"/>
            <a:ext cx="3429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generic “SCAM” label — users see the exact reasoning.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89120" y="4160520"/>
            <a:ext cx="512064" cy="512064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3" name="Image 1" descr="/home/claude/vaaniguard/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7136" y="4288536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29200" y="4169664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Coordinate Mapping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389120" y="4782312"/>
            <a:ext cx="3429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returns exact start/end indices of malicious text.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4160520"/>
            <a:ext cx="512064" cy="512064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7" name="Image 2" descr="/home/claude/vaaniguard/icons/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6176" y="4288536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78240" y="4169664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 Highlighting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138160" y="4782312"/>
            <a:ext cx="3429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paints psychological triggers in red, live, in the UI.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07/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REAL-WORLD IMPACT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I4C “Kill-Switch”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6035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Burner Myth.  </a:t>
            </a:r>
            <a:r>
              <a:rPr lang="en-US" sz="12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Scammers use burner SIMs, but rely on vulnerable “mule” bank accounts to cash out.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51460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Threat Dossiers.  </a:t>
            </a:r>
            <a:r>
              <a:rPr lang="en-US" sz="12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scam is detected, VaaniGuard extracts the scammer’s UPI ID and phone number via regex.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040880" y="1600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464040" y="1810512"/>
            <a:ext cx="411480" cy="411480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8" name="Image 0" descr="/home/claude/vaaniguard/icons/arrow-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910" y="1913382"/>
            <a:ext cx="205740" cy="2057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0" y="1600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128F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sec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7040880" y="24231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kern="0" spc="1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VICTIM REPORTING TIME, REDUCED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040880" y="283464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Golden Hour — faster debit-freeze requests give the government a real shot at stopping withdrawal from the mule account.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160520"/>
            <a:ext cx="548640" cy="548640"/>
          </a:xfrm>
          <a:prstGeom prst="ellipse">
            <a:avLst/>
          </a:prstGeom>
          <a:solidFill>
            <a:srgbClr val="128F6E"/>
          </a:solidFill>
          <a:ln/>
        </p:spPr>
      </p:sp>
      <p:pic>
        <p:nvPicPr>
          <p:cNvPr id="13" name="Image 1" descr="/home/claude/vaaniguard/icons/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2976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4846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Scam Detected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0080" y="5148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flags the threat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2135124" y="4261104"/>
            <a:ext cx="347472" cy="347472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17" name="Image 2" descr="/home/claude/vaaniguard/icons/arrow-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4347972"/>
            <a:ext cx="173736" cy="17373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429000" y="4160520"/>
            <a:ext cx="548640" cy="548640"/>
          </a:xfrm>
          <a:prstGeom prst="ellipse">
            <a:avLst/>
          </a:prstGeom>
          <a:solidFill>
            <a:srgbClr val="128F6E"/>
          </a:solidFill>
          <a:ln/>
        </p:spPr>
      </p:sp>
      <p:pic>
        <p:nvPicPr>
          <p:cNvPr id="19" name="Image 3" descr="/home/claude/vaaniguard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4297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429000" y="4846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 Details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3429000" y="5148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UPI ID + phone via regex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924044" y="4261104"/>
            <a:ext cx="347472" cy="347472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23" name="Image 4" descr="/home/claude/vaaniguard/icons/arrow-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912" y="4347972"/>
            <a:ext cx="173736" cy="173736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217920" y="4160520"/>
            <a:ext cx="548640" cy="548640"/>
          </a:xfrm>
          <a:prstGeom prst="ellipse">
            <a:avLst/>
          </a:prstGeom>
          <a:solidFill>
            <a:srgbClr val="128F6E"/>
          </a:solidFill>
          <a:ln/>
        </p:spPr>
      </p:sp>
      <p:pic>
        <p:nvPicPr>
          <p:cNvPr id="25" name="Image 5" descr="/home/claude/vaaniguard/icons/co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2976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217920" y="4846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Dossier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6217920" y="5148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I4C-formatted, one click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7712964" y="4261104"/>
            <a:ext cx="347472" cy="347472"/>
          </a:xfrm>
          <a:prstGeom prst="ellipse">
            <a:avLst/>
          </a:prstGeom>
          <a:solidFill>
            <a:srgbClr val="212B57"/>
          </a:solidFill>
          <a:ln/>
        </p:spPr>
      </p:sp>
      <p:pic>
        <p:nvPicPr>
          <p:cNvPr id="29" name="Image 6" descr="/home/claude/vaaniguard/icons/arrow-righ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9832" y="4347972"/>
            <a:ext cx="173736" cy="173736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9006840" y="4160520"/>
            <a:ext cx="548640" cy="548640"/>
          </a:xfrm>
          <a:prstGeom prst="ellipse">
            <a:avLst/>
          </a:prstGeom>
          <a:solidFill>
            <a:srgbClr val="128F6E"/>
          </a:solidFill>
          <a:ln/>
        </p:spPr>
      </p:sp>
      <p:pic>
        <p:nvPicPr>
          <p:cNvPr id="31" name="Image 7" descr="/home/claude/vaaniguard/icons/fla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4297680"/>
            <a:ext cx="274320" cy="274320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9006840" y="4846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at 1930</a:t>
            </a:r>
            <a:endParaRPr lang="en-US" sz="1300" dirty="0"/>
          </a:p>
        </p:txBody>
      </p:sp>
      <p:sp>
        <p:nvSpPr>
          <p:cNvPr id="33" name="Text 23"/>
          <p:cNvSpPr/>
          <p:nvPr/>
        </p:nvSpPr>
        <p:spPr>
          <a:xfrm>
            <a:off x="9006840" y="5148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Copied straight to clipboard</a:t>
            </a:r>
            <a:endParaRPr lang="en-US" sz="1050" dirty="0"/>
          </a:p>
        </p:txBody>
      </p:sp>
      <p:sp>
        <p:nvSpPr>
          <p:cNvPr id="34" name="Text 24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3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EEF0F7"/>
          </a:solidFill>
          <a:ln/>
          <a:effectLst>
            <a:outerShdw blurRad="101600" dist="38100" dir="5400000" algn="bl" rotWithShape="0">
              <a:srgbClr val="8A93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86000"/>
            <a:ext cx="566928" cy="566928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6" name="Image 0" descr="/home/claude/vaaniguard/icons/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" y="24277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8600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Frontend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017520"/>
            <a:ext cx="4617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0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/ Vite — glass-box token visualization and multimodal uploads.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96596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EEF0F7"/>
          </a:solidFill>
          <a:ln/>
          <a:effectLst>
            <a:outerShdw blurRad="101600" dist="38100" dir="5400000" algn="bl" rotWithShape="0">
              <a:srgbClr val="8A93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286000"/>
            <a:ext cx="566928" cy="566928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1" name="Image 1" descr="/home/claude/vaaniguard/icons/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412" y="24277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28600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Engine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017520"/>
            <a:ext cx="4617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IN" sz="1150" b="1" dirty="0">
                <a:solidFill>
                  <a:schemeClr val="bg1">
                    <a:lumMod val="50000"/>
                  </a:schemeClr>
                </a:solidFill>
                <a:latin typeface="Inter"/>
              </a:rPr>
              <a:t>Node.js / Express</a:t>
            </a:r>
            <a:r>
              <a:rPr lang="en-IN" sz="1150" dirty="0">
                <a:solidFill>
                  <a:schemeClr val="bg1">
                    <a:lumMod val="50000"/>
                  </a:schemeClr>
                </a:solidFill>
                <a:latin typeface="Inter"/>
              </a:rPr>
              <a:t> — Lightweight, high-throughput asynchronous backend managing the phonetic normalizer, regex heuristic engine, and multi-agent pipeline.</a:t>
            </a:r>
            <a:endParaRPr lang="en-US" sz="1150" dirty="0">
              <a:solidFill>
                <a:schemeClr val="bg1">
                  <a:lumMod val="50000"/>
                </a:schemeClr>
              </a:solidFill>
              <a:latin typeface="Inter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40080" y="429768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EEF0F7"/>
          </a:solidFill>
          <a:ln/>
          <a:effectLst>
            <a:outerShdw blurRad="101600" dist="38100" dir="5400000" algn="bl" rotWithShape="0">
              <a:srgbClr val="8A93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4617720"/>
            <a:ext cx="566928" cy="566928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6" name="Image 2" descr="/home/claude/vaaniguard/icons/cp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" y="47594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61772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NLP &amp; Vision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60120" y="5349240"/>
            <a:ext cx="4617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IN" sz="1150" b="1" dirty="0">
                <a:solidFill>
                  <a:schemeClr val="bg1">
                    <a:lumMod val="50000"/>
                  </a:schemeClr>
                </a:solidFill>
              </a:rPr>
              <a:t>NLP, Vision &amp; OCR</a:t>
            </a:r>
            <a:r>
              <a:rPr lang="en-IN" sz="1150" dirty="0">
                <a:solidFill>
                  <a:schemeClr val="bg1">
                    <a:lumMod val="50000"/>
                  </a:schemeClr>
                </a:solidFill>
              </a:rPr>
              <a:t> Gemini handles sub-second image ingestion and vernacular OCR, passing the structural payload to our 3-Agent Consensus driven entirely by strict JSON schema enforcement</a:t>
            </a:r>
            <a:endParaRPr lang="en-US" sz="11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263640" y="429768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EEF0F7"/>
          </a:solidFill>
          <a:ln/>
          <a:effectLst>
            <a:outerShdw blurRad="101600" dist="38100" dir="5400000" algn="bl" rotWithShape="0">
              <a:srgbClr val="8A93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0" y="4617720"/>
            <a:ext cx="566928" cy="566928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21" name="Image 3" descr="/home/claude/vaaniguard/icons/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5412" y="47594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61772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E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583680" y="5349240"/>
            <a:ext cx="4617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IN" sz="1150" b="1" dirty="0">
                <a:solidFill>
                  <a:schemeClr val="bg1">
                    <a:lumMod val="50000"/>
                  </a:schemeClr>
                </a:solidFill>
                <a:latin typeface="Inter"/>
              </a:rPr>
              <a:t>Concurrent Async Execution (</a:t>
            </a:r>
            <a:r>
              <a:rPr lang="en-IN" sz="1150" b="1" dirty="0" err="1">
                <a:solidFill>
                  <a:schemeClr val="bg1">
                    <a:lumMod val="50000"/>
                  </a:schemeClr>
                </a:solidFill>
                <a:latin typeface="Inter"/>
              </a:rPr>
              <a:t>Promise.all</a:t>
            </a:r>
            <a:r>
              <a:rPr lang="en-IN" sz="1150" b="1" dirty="0">
                <a:solidFill>
                  <a:schemeClr val="bg1">
                    <a:lumMod val="50000"/>
                  </a:schemeClr>
                </a:solidFill>
                <a:latin typeface="Inter"/>
              </a:rPr>
              <a:t>)</a:t>
            </a:r>
            <a:r>
              <a:rPr lang="en-IN" sz="1150" dirty="0">
                <a:solidFill>
                  <a:schemeClr val="bg1">
                    <a:lumMod val="50000"/>
                  </a:schemeClr>
                </a:solidFill>
                <a:latin typeface="Inter"/>
              </a:rPr>
              <a:t> — Leverages Node.js's non-blocking event loop to resolve parallel agent investigations simultaneously in milliseconds without freezing the client UI</a:t>
            </a:r>
            <a:endParaRPr lang="en-US" sz="1150" dirty="0">
              <a:solidFill>
                <a:schemeClr val="bg1">
                  <a:lumMod val="50000"/>
                </a:schemeClr>
              </a:solidFill>
              <a:latin typeface="Inter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7BB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Security shield. Cyber security. Protection shield with Check mark icon ...">
            <a:extLst>
              <a:ext uri="{FF2B5EF4-FFF2-40B4-BE49-F238E27FC236}">
                <a16:creationId xmlns:a16="http://schemas.microsoft.com/office/drawing/2014/main" id="{57C931E8-BB9E-5E6D-F712-47CECF543B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80"/>
            <a:ext cx="12193431" cy="68596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77724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5455768" y="2286000"/>
            <a:ext cx="1280160" cy="0"/>
          </a:xfrm>
          <a:prstGeom prst="line">
            <a:avLst/>
          </a:prstGeom>
          <a:noFill/>
          <a:ln w="31750">
            <a:solidFill>
              <a:srgbClr val="128F6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6648" y="2880360"/>
            <a:ext cx="4846320" cy="1325880"/>
          </a:xfrm>
          <a:prstGeom prst="roundRect">
            <a:avLst>
              <a:gd name="adj" fmla="val 8276"/>
            </a:avLst>
          </a:prstGeom>
          <a:solidFill>
            <a:srgbClr val="212B5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Shape 4"/>
          <p:cNvSpPr/>
          <p:nvPr/>
        </p:nvSpPr>
        <p:spPr>
          <a:xfrm>
            <a:off x="1359256" y="3278124"/>
            <a:ext cx="530352" cy="53035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8" name="Image 1" descr="/home/claude/vaaniguard/icons/aw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844" y="3410712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18208" y="3136392"/>
            <a:ext cx="3520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NAME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118208" y="3447288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Hatsoff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Shape 7"/>
          <p:cNvSpPr/>
          <p:nvPr/>
        </p:nvSpPr>
        <p:spPr>
          <a:xfrm>
            <a:off x="6278728" y="2880360"/>
            <a:ext cx="4846320" cy="1325880"/>
          </a:xfrm>
          <a:prstGeom prst="roundRect">
            <a:avLst>
              <a:gd name="adj" fmla="val 8276"/>
            </a:avLst>
          </a:prstGeom>
          <a:solidFill>
            <a:srgbClr val="212B57"/>
          </a:solidFill>
          <a:ln/>
        </p:spPr>
      </p:sp>
      <p:sp>
        <p:nvSpPr>
          <p:cNvPr id="12" name="Shape 8"/>
          <p:cNvSpPr/>
          <p:nvPr/>
        </p:nvSpPr>
        <p:spPr>
          <a:xfrm>
            <a:off x="6571336" y="3278124"/>
            <a:ext cx="530352" cy="53035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3" name="Image 2" descr="/home/claude/vaaniguard/icons/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3924" y="3410712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330288" y="3136392"/>
            <a:ext cx="3520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MEMBERS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7330288" y="3447288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Arindam Nath, </a:t>
            </a:r>
            <a:r>
              <a:rPr lang="en-US" sz="2000" b="1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Debanga</a:t>
            </a: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</a:rPr>
              <a:t> Shivam, Dev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066648" y="4526280"/>
            <a:ext cx="4846320" cy="1325880"/>
          </a:xfrm>
          <a:prstGeom prst="roundRect">
            <a:avLst>
              <a:gd name="adj" fmla="val 8276"/>
            </a:avLst>
          </a:prstGeom>
          <a:solidFill>
            <a:srgbClr val="212B5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Shape 12"/>
          <p:cNvSpPr/>
          <p:nvPr/>
        </p:nvSpPr>
        <p:spPr>
          <a:xfrm>
            <a:off x="1359256" y="4924044"/>
            <a:ext cx="530352" cy="53035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18" name="Image 3" descr="/home/claude/vaaniguard/icons/gith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1844" y="5056632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118208" y="4782312"/>
            <a:ext cx="3520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2118208" y="5093208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278728" y="4526280"/>
            <a:ext cx="4846320" cy="1325880"/>
          </a:xfrm>
          <a:prstGeom prst="roundRect">
            <a:avLst>
              <a:gd name="adj" fmla="val 8276"/>
            </a:avLst>
          </a:prstGeom>
          <a:solidFill>
            <a:srgbClr val="212B57"/>
          </a:solidFill>
          <a:ln/>
        </p:spPr>
      </p:sp>
      <p:sp>
        <p:nvSpPr>
          <p:cNvPr id="22" name="Shape 16"/>
          <p:cNvSpPr/>
          <p:nvPr/>
        </p:nvSpPr>
        <p:spPr>
          <a:xfrm>
            <a:off x="6571336" y="4924044"/>
            <a:ext cx="530352" cy="530352"/>
          </a:xfrm>
          <a:prstGeom prst="ellipse">
            <a:avLst/>
          </a:prstGeom>
          <a:solidFill>
            <a:srgbClr val="141B3C"/>
          </a:solidFill>
          <a:ln/>
        </p:spPr>
      </p:sp>
      <p:pic>
        <p:nvPicPr>
          <p:cNvPr id="23" name="Image 4" descr="/home/claude/vaaniguard/icons/pl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924" y="5056632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330288" y="4782312"/>
            <a:ext cx="3520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9AA1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7330288" y="5093208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en-IN" sz="2000" dirty="0" err="1">
                <a:hlinkClick r:id="rId8"/>
              </a:rPr>
              <a:t>ShieldSMS</a:t>
            </a:r>
            <a:r>
              <a:rPr lang="en-IN" sz="2000" dirty="0">
                <a:hlinkClick r:id="rId8"/>
              </a:rPr>
              <a:t> — Vernacular Phishing Classifier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9174175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3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VaaniGuard  ·  10/ 10</a:t>
            </a:r>
            <a:endParaRPr lang="en-US" sz="9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F05019-46B5-1B05-0C2B-9F01AD596961}"/>
              </a:ext>
            </a:extLst>
          </p:cNvPr>
          <p:cNvSpPr txBox="1"/>
          <p:nvPr/>
        </p:nvSpPr>
        <p:spPr>
          <a:xfrm>
            <a:off x="2109442" y="5084448"/>
            <a:ext cx="6162260" cy="425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IN" sz="2000" dirty="0" err="1">
                <a:hlinkClick r:id="rId9"/>
              </a:rPr>
              <a:t>Arthrevs</a:t>
            </a:r>
            <a:r>
              <a:rPr lang="en-IN" sz="2000" dirty="0">
                <a:hlinkClick r:id="rId9"/>
              </a:rPr>
              <a:t>/</a:t>
            </a:r>
            <a:r>
              <a:rPr lang="en-IN" sz="2000" dirty="0" err="1">
                <a:hlinkClick r:id="rId9"/>
              </a:rPr>
              <a:t>Acm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1025</Words>
  <Application>Microsoft Office PowerPoint</Application>
  <PresentationFormat>Widescreen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Courier New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VaaniGuard</dc:creator>
  <cp:lastModifiedBy>Arindam Nath [COMPUTER SCIENCE &amp; ENGINEERING - 2025]</cp:lastModifiedBy>
  <cp:revision>4</cp:revision>
  <dcterms:created xsi:type="dcterms:W3CDTF">2026-08-21T23:07:02Z</dcterms:created>
  <dcterms:modified xsi:type="dcterms:W3CDTF">2026-08-22T06:36:21Z</dcterms:modified>
</cp:coreProperties>
</file>